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D6D0"/>
                </a:solidFill>
                <a:latin typeface="Aptos"/>
              </a:rPr>
              <a:t>REVUE D’ACTIVITÉ · T2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7498079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Croissance rentable,
priorités nettes.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907792"/>
            <a:ext cx="6126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D7E5F4"/>
                </a:solidFill>
                <a:latin typeface="Aptos"/>
              </a:rPr>
              <a:t>Exemple de support exécutif construit à partir de données finalisées.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767328"/>
            <a:ext cx="1572768" cy="347472"/>
          </a:xfrm>
          <a:prstGeom prst="roundRect">
            <a:avLst/>
          </a:prstGeom>
          <a:solidFill>
            <a:srgbClr val="173B62"/>
          </a:solidFill>
          <a:ln w="12700">
            <a:solidFill>
              <a:srgbClr val="17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3831336"/>
            <a:ext cx="142646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5BD6D0"/>
                </a:solidFill>
                <a:latin typeface="Aptos"/>
              </a:rPr>
              <a:t>8 DIAPOSITIVES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95728" y="3767328"/>
            <a:ext cx="1664208" cy="347472"/>
          </a:xfrm>
          <a:prstGeom prst="roundRect">
            <a:avLst/>
          </a:prstGeom>
          <a:solidFill>
            <a:srgbClr val="173B62"/>
          </a:solidFill>
          <a:ln w="12700">
            <a:solidFill>
              <a:srgbClr val="17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3831336"/>
            <a:ext cx="151790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5BD6D0"/>
                </a:solidFill>
                <a:latin typeface="Aptos"/>
              </a:rPr>
              <a:t>PPTX ÉDITABLE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3767328"/>
            <a:ext cx="731520" cy="347472"/>
          </a:xfrm>
          <a:prstGeom prst="roundRect">
            <a:avLst/>
          </a:prstGeom>
          <a:solidFill>
            <a:srgbClr val="173B62"/>
          </a:solidFill>
          <a:ln w="12700">
            <a:solidFill>
              <a:srgbClr val="17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3831336"/>
            <a:ext cx="585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5BD6D0"/>
                </a:solidFill>
                <a:latin typeface="Aptos"/>
              </a:rPr>
              <a:t>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685800"/>
            <a:ext cx="3401568" cy="5285232"/>
          </a:xfrm>
          <a:prstGeom prst="roundRect">
            <a:avLst/>
          </a:prstGeom>
          <a:solidFill>
            <a:srgbClr val="173B62"/>
          </a:solidFill>
          <a:ln w="12700">
            <a:solidFill>
              <a:srgbClr val="28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024128"/>
            <a:ext cx="1005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5BD6D0"/>
                </a:solidFill>
                <a:latin typeface="Aptos"/>
              </a:rPr>
              <a:t>T2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737360"/>
            <a:ext cx="25603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Performance
trimestrielle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944368"/>
            <a:ext cx="2724912" cy="1188720"/>
          </a:xfrm>
          <a:prstGeom prst="roundRect">
            <a:avLst/>
          </a:prstGeom>
          <a:solidFill>
            <a:srgbClr val="173B62"/>
          </a:solidFill>
          <a:ln w="12700">
            <a:solidFill>
              <a:srgbClr val="28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8" y="3090672"/>
            <a:ext cx="23225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BD6D0"/>
                </a:solidFill>
                <a:latin typeface="Aptos"/>
              </a:rPr>
              <a:t>REVENUS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3346704"/>
            <a:ext cx="232257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1,24 M€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3803904"/>
            <a:ext cx="23225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D7E5F4"/>
                </a:solidFill>
                <a:latin typeface="Aptos"/>
              </a:rPr>
              <a:t>+14 % vs T1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343400"/>
            <a:ext cx="2724912" cy="1188720"/>
          </a:xfrm>
          <a:prstGeom prst="roundRect">
            <a:avLst/>
          </a:prstGeom>
          <a:solidFill>
            <a:srgbClr val="173B62"/>
          </a:solidFill>
          <a:ln w="12700">
            <a:solidFill>
              <a:srgbClr val="28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9368" y="4489704"/>
            <a:ext cx="23225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BD6D0"/>
                </a:solidFill>
                <a:latin typeface="Aptos"/>
              </a:rPr>
              <a:t>MARGE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8" y="4745736"/>
            <a:ext cx="232257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31 %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5202936"/>
            <a:ext cx="23225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D7E5F4"/>
                </a:solidFill>
                <a:latin typeface="Aptos"/>
              </a:rPr>
              <a:t>+3 pts vs T1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9C8DA"/>
                </a:solidFill>
                <a:latin typeface="Aptos"/>
              </a:rPr>
              <a:t>EXEMPLE FICTIF · DONNÉES SYNTHÉTIQUES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B9C8DA"/>
                </a:solidFill>
                <a:latin typeface="Aptos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035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D7FF9"/>
                </a:solidFill>
                <a:latin typeface="Aptos"/>
              </a:rPr>
              <a:t>01 · SYNTHÈSE EXÉCUTIVE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43E"/>
                </a:solidFill>
                <a:latin typeface="Aptos"/>
              </a:rPr>
              <a:t>Le trimestre en trois décisions.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27632"/>
            <a:ext cx="349300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773936"/>
            <a:ext cx="3090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86B82"/>
                </a:solidFill>
                <a:latin typeface="Aptos"/>
              </a:rPr>
              <a:t>REVENUS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029968"/>
            <a:ext cx="3090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2D7FF9"/>
                </a:solidFill>
                <a:latin typeface="Aptos"/>
              </a:rPr>
              <a:t>1,24 M€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487168"/>
            <a:ext cx="30906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86B82"/>
                </a:solidFill>
                <a:latin typeface="Aptos"/>
              </a:rPr>
              <a:t>+14 % vs T1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627632"/>
            <a:ext cx="349300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73936"/>
            <a:ext cx="3090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86B82"/>
                </a:solidFill>
                <a:latin typeface="Aptos"/>
              </a:rPr>
              <a:t>RÉSULTAT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029968"/>
            <a:ext cx="3090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59A7D"/>
                </a:solidFill>
                <a:latin typeface="Aptos"/>
              </a:rPr>
              <a:t>186 k€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87168"/>
            <a:ext cx="30906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86B82"/>
                </a:solidFill>
                <a:latin typeface="Aptos"/>
              </a:rPr>
              <a:t>+42 % vs T1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27632"/>
            <a:ext cx="349300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773936"/>
            <a:ext cx="3090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86B82"/>
                </a:solidFill>
                <a:latin typeface="Aptos"/>
              </a:rPr>
              <a:t>MARGE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029968"/>
            <a:ext cx="3090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5BD6D0"/>
                </a:solidFill>
                <a:latin typeface="Aptos"/>
              </a:rPr>
              <a:t>31 %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487168"/>
            <a:ext cx="30906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86B82"/>
                </a:solidFill>
                <a:latin typeface="Aptos"/>
              </a:rPr>
              <a:t>+3 pts vs T1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54680"/>
            <a:ext cx="11064240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419856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Aptos"/>
              </a:rPr>
              <a:t>Décisions proposées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" y="4032504"/>
            <a:ext cx="100584" cy="100584"/>
          </a:xfrm>
          <a:prstGeom prst="ellipse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3950208"/>
            <a:ext cx="48737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0243E"/>
                </a:solidFill>
                <a:latin typeface="Aptos"/>
              </a:rPr>
              <a:t>Accélérer le segment PME, principal moteur de croissance rentable.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4700016"/>
            <a:ext cx="100584" cy="100584"/>
          </a:xfrm>
          <a:prstGeom prst="ellipse">
            <a:avLst/>
          </a:prstGeom>
          <a:solidFill>
            <a:srgbClr val="E46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4617720"/>
            <a:ext cx="48737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0243E"/>
                </a:solidFill>
                <a:latin typeface="Aptos"/>
              </a:rPr>
              <a:t>Geler les dépenses événementielles tant que le coût d’acquisition reste au-dessus de la cible.</a:t>
            </a:r>
          </a:p>
        </p:txBody>
      </p:sp>
      <p:sp>
        <p:nvSpPr>
          <p:cNvPr id="22" name="Oval 21"/>
          <p:cNvSpPr/>
          <p:nvPr/>
        </p:nvSpPr>
        <p:spPr>
          <a:xfrm>
            <a:off x="6080760" y="4032504"/>
            <a:ext cx="100584" cy="100584"/>
          </a:xfrm>
          <a:prstGeom prst="ellipse">
            <a:avLst/>
          </a:prstGeom>
          <a:solidFill>
            <a:srgbClr val="159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3950208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0243E"/>
                </a:solidFill>
                <a:latin typeface="Aptos"/>
              </a:rPr>
              <a:t>Sécuriser les capacités support avant le lancement de septembre.</a:t>
            </a:r>
          </a:p>
        </p:txBody>
      </p:sp>
      <p:sp>
        <p:nvSpPr>
          <p:cNvPr id="24" name="Oval 23"/>
          <p:cNvSpPr/>
          <p:nvPr/>
        </p:nvSpPr>
        <p:spPr>
          <a:xfrm>
            <a:off x="6080760" y="4700016"/>
            <a:ext cx="100584" cy="100584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4617720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0243E"/>
                </a:solidFill>
                <a:latin typeface="Aptos"/>
              </a:rPr>
              <a:t>Revoir le mix prix/remises sur les comptes à faible marge.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86B82"/>
                </a:solidFill>
                <a:latin typeface="Aptos"/>
              </a:rPr>
              <a:t>EXEMPLE FICTIF · DONNÉES SYNTHÉTIQUES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86B82"/>
                </a:solidFill>
                <a:latin typeface="Aptos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035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D7FF9"/>
                </a:solidFill>
                <a:latin typeface="Aptos"/>
              </a:rPr>
              <a:t>02 · REVENUS ET RÉSULTAT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43E"/>
                </a:solidFill>
                <a:latin typeface="Aptos"/>
              </a:rPr>
              <a:t>La croissance accélère sans diluer la marge.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678484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847088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E"/>
                </a:solidFill>
                <a:latin typeface="Aptos"/>
              </a:rPr>
              <a:t>Revenus trimestriels · k€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26864" y="1874519"/>
            <a:ext cx="23225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86B82"/>
                </a:solidFill>
                <a:latin typeface="Aptos"/>
              </a:rPr>
              <a:t>Échelle 0–1 300 k€ · base zéro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5138928"/>
            <a:ext cx="598932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3425061"/>
            <a:ext cx="1339595" cy="1713866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32453"/>
            <a:ext cx="1431036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0243E"/>
                </a:solidFill>
                <a:latin typeface="Aptos"/>
              </a:rPr>
              <a:t>930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30368"/>
            <a:ext cx="143103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86B82"/>
                </a:solidFill>
                <a:latin typeface="Aptos"/>
              </a:rPr>
              <a:t>T3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0028" y="3259202"/>
            <a:ext cx="1339595" cy="1879725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4308" y="2966594"/>
            <a:ext cx="1431036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0243E"/>
                </a:solidFill>
                <a:latin typeface="Aptos"/>
              </a:rPr>
              <a:t>1020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4308" y="5230368"/>
            <a:ext cx="143103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86B82"/>
                </a:solidFill>
                <a:latin typeface="Aptos"/>
              </a:rPr>
              <a:t>T4 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9935" y="3130202"/>
            <a:ext cx="1339595" cy="2008725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14215" y="2837594"/>
            <a:ext cx="1431036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0243E"/>
                </a:solidFill>
                <a:latin typeface="Aptos"/>
              </a:rPr>
              <a:t>1090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4215" y="5230368"/>
            <a:ext cx="143103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86B82"/>
                </a:solidFill>
                <a:latin typeface="Aptos"/>
              </a:rPr>
              <a:t>T1 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9843" y="2853772"/>
            <a:ext cx="1339595" cy="2285155"/>
          </a:xfrm>
          <a:prstGeom prst="roundRect">
            <a:avLst/>
          </a:prstGeom>
          <a:solidFill>
            <a:srgbClr val="5B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64123" y="2561164"/>
            <a:ext cx="1431036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0243E"/>
                </a:solidFill>
                <a:latin typeface="Aptos"/>
              </a:rPr>
              <a:t>1240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4123" y="5230368"/>
            <a:ext cx="143103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86B82"/>
                </a:solidFill>
                <a:latin typeface="Aptos"/>
              </a:rPr>
              <a:t>T2 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572768"/>
            <a:ext cx="399592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36408" y="1719072"/>
            <a:ext cx="35935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86B82"/>
                </a:solidFill>
                <a:latin typeface="Aptos"/>
              </a:rPr>
              <a:t>RÉSULTAT T2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1975104"/>
            <a:ext cx="35935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59A7D"/>
                </a:solidFill>
                <a:latin typeface="Aptos"/>
              </a:rPr>
              <a:t>186 k€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2432304"/>
            <a:ext cx="35935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86B82"/>
                </a:solidFill>
                <a:latin typeface="Aptos"/>
              </a:rPr>
              <a:t>contre 131 k€ au T1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999232"/>
            <a:ext cx="3995928" cy="2980944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7848" y="3291840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243E"/>
                </a:solidFill>
                <a:latin typeface="Aptos"/>
              </a:rPr>
              <a:t>Lecture</a:t>
            </a:r>
          </a:p>
        </p:txBody>
      </p:sp>
      <p:sp>
        <p:nvSpPr>
          <p:cNvPr id="26" name="Oval 25"/>
          <p:cNvSpPr/>
          <p:nvPr/>
        </p:nvSpPr>
        <p:spPr>
          <a:xfrm>
            <a:off x="7927848" y="3849624"/>
            <a:ext cx="100584" cy="100584"/>
          </a:xfrm>
          <a:prstGeom prst="ellipse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3767328"/>
            <a:ext cx="2926079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0243E"/>
                </a:solidFill>
                <a:latin typeface="Aptos"/>
              </a:rPr>
              <a:t>Hausse tirée par le segment PME.</a:t>
            </a:r>
          </a:p>
        </p:txBody>
      </p:sp>
      <p:sp>
        <p:nvSpPr>
          <p:cNvPr id="28" name="Oval 27"/>
          <p:cNvSpPr/>
          <p:nvPr/>
        </p:nvSpPr>
        <p:spPr>
          <a:xfrm>
            <a:off x="7927848" y="4453128"/>
            <a:ext cx="100584" cy="100584"/>
          </a:xfrm>
          <a:prstGeom prst="ellipse">
            <a:avLst/>
          </a:prstGeom>
          <a:solidFill>
            <a:srgbClr val="159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9016" y="4370832"/>
            <a:ext cx="2926079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0243E"/>
                </a:solidFill>
                <a:latin typeface="Aptos"/>
              </a:rPr>
              <a:t>Remises mieux maîtrisées.</a:t>
            </a:r>
          </a:p>
        </p:txBody>
      </p:sp>
      <p:sp>
        <p:nvSpPr>
          <p:cNvPr id="30" name="Oval 29"/>
          <p:cNvSpPr/>
          <p:nvPr/>
        </p:nvSpPr>
        <p:spPr>
          <a:xfrm>
            <a:off x="7927848" y="5056632"/>
            <a:ext cx="100584" cy="100584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9016" y="4974336"/>
            <a:ext cx="2926079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0243E"/>
                </a:solidFill>
                <a:latin typeface="Aptos"/>
              </a:rPr>
              <a:t>Pas d’effet prix isolé dans cet exemple.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86B82"/>
                </a:solidFill>
                <a:latin typeface="Aptos"/>
              </a:rPr>
              <a:t>EXEMPLE FICTIF · DONNÉES SYNTHÉTIQUES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86B82"/>
                </a:solidFill>
                <a:latin typeface="Aptos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035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D7FF9"/>
                </a:solidFill>
                <a:latin typeface="Aptos"/>
              </a:rPr>
              <a:t>03 · DÉPENSES ET COÛTS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43E"/>
                </a:solidFill>
                <a:latin typeface="Aptos"/>
              </a:rPr>
              <a:t>Le mix se réoriente vers les leviers mesurables.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55321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847088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E"/>
                </a:solidFill>
                <a:latin typeface="Aptos"/>
              </a:rPr>
              <a:t>Dépenses T2 · k€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41448"/>
            <a:ext cx="1325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86B82"/>
                </a:solidFill>
                <a:latin typeface="Aptos"/>
              </a:rPr>
              <a:t>Équipe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76272" y="2459736"/>
            <a:ext cx="2971800" cy="256032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75504" y="2441448"/>
            <a:ext cx="5669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>
                <a:solidFill>
                  <a:srgbClr val="10243E"/>
                </a:solidFill>
                <a:latin typeface="Aptos"/>
              </a:rPr>
              <a:t>420 k€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1325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86B82"/>
                </a:solidFill>
                <a:latin typeface="Aptos"/>
              </a:rPr>
              <a:t>Acquisition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6272" y="3218688"/>
            <a:ext cx="1330234" cy="256032"/>
          </a:xfrm>
          <a:prstGeom prst="roundRect">
            <a:avLst/>
          </a:prstGeom>
          <a:solidFill>
            <a:srgbClr val="5B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3200400"/>
            <a:ext cx="5669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>
                <a:solidFill>
                  <a:srgbClr val="10243E"/>
                </a:solidFill>
                <a:latin typeface="Aptos"/>
              </a:rPr>
              <a:t>188 k€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59352"/>
            <a:ext cx="1325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86B82"/>
                </a:solidFill>
                <a:latin typeface="Aptos"/>
              </a:rPr>
              <a:t>Outils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76272" y="3977639"/>
            <a:ext cx="679268" cy="256032"/>
          </a:xfrm>
          <a:prstGeom prst="roundRect">
            <a:avLst/>
          </a:prstGeom>
          <a:solidFill>
            <a:srgbClr val="159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4" y="3959352"/>
            <a:ext cx="5669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>
                <a:solidFill>
                  <a:srgbClr val="10243E"/>
                </a:solidFill>
                <a:latin typeface="Aptos"/>
              </a:rPr>
              <a:t>96 k€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18304"/>
            <a:ext cx="1325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86B82"/>
                </a:solidFill>
                <a:latin typeface="Aptos"/>
              </a:rPr>
              <a:t>Événements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76272" y="4736592"/>
            <a:ext cx="523602" cy="256032"/>
          </a:xfrm>
          <a:prstGeom prst="roundRect">
            <a:avLst/>
          </a:prstGeom>
          <a:solidFill>
            <a:srgbClr val="E46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4" y="4718304"/>
            <a:ext cx="5669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>
                <a:solidFill>
                  <a:srgbClr val="10243E"/>
                </a:solidFill>
                <a:latin typeface="Aptos"/>
              </a:rPr>
              <a:t>74 k€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1572768"/>
            <a:ext cx="5248656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0" y="1810512"/>
            <a:ext cx="22128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1956816"/>
            <a:ext cx="1810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86B82"/>
                </a:solidFill>
                <a:latin typeface="Aptos"/>
              </a:rPr>
              <a:t>COÛTS TOTAUX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2212848"/>
            <a:ext cx="18105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59A7D"/>
                </a:solidFill>
                <a:latin typeface="Aptos"/>
              </a:rPr>
              <a:t>778 k€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2670048"/>
            <a:ext cx="18105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86B82"/>
                </a:solidFill>
                <a:latin typeface="Aptos"/>
              </a:rPr>
              <a:t>−2 % vs T1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1810512"/>
            <a:ext cx="22128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98864" y="1956816"/>
            <a:ext cx="1810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86B82"/>
                </a:solidFill>
                <a:latin typeface="Aptos"/>
              </a:rPr>
              <a:t>CAC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212848"/>
            <a:ext cx="18105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E46D5A"/>
                </a:solidFill>
                <a:latin typeface="Aptos"/>
              </a:rPr>
              <a:t>1 180 €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2670048"/>
            <a:ext cx="18105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86B82"/>
                </a:solidFill>
                <a:latin typeface="Aptos"/>
              </a:rPr>
              <a:t>+7 % vs cible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2512" y="3794760"/>
            <a:ext cx="5248656" cy="2258568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08736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243E"/>
                </a:solidFill>
                <a:latin typeface="Aptos"/>
              </a:rPr>
              <a:t>Action recommandée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553712"/>
            <a:ext cx="4425696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243E"/>
                </a:solidFill>
                <a:latin typeface="Aptos"/>
              </a:rPr>
              <a:t>Réallouer 24 k€ d’événementiel vers deux canaux d’acquisition déjà mesurés, avec revue à 30 jours.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86B82"/>
                </a:solidFill>
                <a:latin typeface="Aptos"/>
              </a:rPr>
              <a:t>EXEMPLE FICTIF · DONNÉES SYNTHÉTIQUES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86B82"/>
                </a:solidFill>
                <a:latin typeface="Aptos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035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D7FF9"/>
                </a:solidFill>
                <a:latin typeface="Aptos"/>
              </a:rPr>
              <a:t>04 · ÉVOLUTION TRIMESTRIELLE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43E"/>
                </a:solidFill>
                <a:latin typeface="Aptos"/>
              </a:rPr>
              <a:t>La marge gagne trois points en un trimestre.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740664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847088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43E"/>
                </a:solidFill>
                <a:latin typeface="Aptos"/>
              </a:rPr>
              <a:t>Marge brute · 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532888"/>
            <a:ext cx="6446520" cy="731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3340608"/>
            <a:ext cx="6446520" cy="731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4148328"/>
            <a:ext cx="6446520" cy="731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4956048"/>
            <a:ext cx="6446520" cy="731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086962">
            <a:off x="1051560" y="4529328"/>
            <a:ext cx="2172993" cy="45720"/>
          </a:xfrm>
          <a:prstGeom prst="rect">
            <a:avLst/>
          </a:prstGeom>
          <a:solidFill>
            <a:srgbClr val="159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1086962">
            <a:off x="3200400" y="4206240"/>
            <a:ext cx="2172993" cy="45720"/>
          </a:xfrm>
          <a:prstGeom prst="rect">
            <a:avLst/>
          </a:prstGeom>
          <a:solidFill>
            <a:srgbClr val="159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143295">
            <a:off x="5349240" y="3883151"/>
            <a:ext cx="2357326" cy="45720"/>
          </a:xfrm>
          <a:prstGeom prst="rect">
            <a:avLst/>
          </a:prstGeom>
          <a:solidFill>
            <a:srgbClr val="159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263" y="4469892"/>
            <a:ext cx="164592" cy="164592"/>
          </a:xfrm>
          <a:prstGeom prst="ellipse">
            <a:avLst/>
          </a:prstGeom>
          <a:solidFill>
            <a:srgbClr val="5BD6D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" y="4168140"/>
            <a:ext cx="51206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10243E"/>
                </a:solidFill>
                <a:latin typeface="Aptos"/>
              </a:rPr>
              <a:t>26%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5148071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86B82"/>
                </a:solidFill>
                <a:latin typeface="Aptos"/>
              </a:rPr>
              <a:t>T3 25</a:t>
            </a:r>
          </a:p>
        </p:txBody>
      </p:sp>
      <p:sp>
        <p:nvSpPr>
          <p:cNvPr id="16" name="Oval 15"/>
          <p:cNvSpPr/>
          <p:nvPr/>
        </p:nvSpPr>
        <p:spPr>
          <a:xfrm>
            <a:off x="3118104" y="4146804"/>
            <a:ext cx="164592" cy="164592"/>
          </a:xfrm>
          <a:prstGeom prst="ellipse">
            <a:avLst/>
          </a:prstGeom>
          <a:solidFill>
            <a:srgbClr val="5BD6D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3845052"/>
            <a:ext cx="51206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10243E"/>
                </a:solidFill>
                <a:latin typeface="Aptos"/>
              </a:rPr>
              <a:t>27%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5148071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86B82"/>
                </a:solidFill>
                <a:latin typeface="Aptos"/>
              </a:rPr>
              <a:t>T4 25</a:t>
            </a:r>
          </a:p>
        </p:txBody>
      </p:sp>
      <p:sp>
        <p:nvSpPr>
          <p:cNvPr id="19" name="Oval 18"/>
          <p:cNvSpPr/>
          <p:nvPr/>
        </p:nvSpPr>
        <p:spPr>
          <a:xfrm>
            <a:off x="5266944" y="3823716"/>
            <a:ext cx="164592" cy="164592"/>
          </a:xfrm>
          <a:prstGeom prst="ellipse">
            <a:avLst/>
          </a:prstGeom>
          <a:solidFill>
            <a:srgbClr val="5BD6D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3207" y="3521964"/>
            <a:ext cx="51206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10243E"/>
                </a:solidFill>
                <a:latin typeface="Aptos"/>
              </a:rPr>
              <a:t>28%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148071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86B82"/>
                </a:solidFill>
                <a:latin typeface="Aptos"/>
              </a:rPr>
              <a:t>T1 26</a:t>
            </a:r>
          </a:p>
        </p:txBody>
      </p:sp>
      <p:sp>
        <p:nvSpPr>
          <p:cNvPr id="22" name="Oval 21"/>
          <p:cNvSpPr/>
          <p:nvPr/>
        </p:nvSpPr>
        <p:spPr>
          <a:xfrm>
            <a:off x="7415783" y="2854452"/>
            <a:ext cx="164592" cy="164592"/>
          </a:xfrm>
          <a:prstGeom prst="ellipse">
            <a:avLst/>
          </a:prstGeom>
          <a:solidFill>
            <a:srgbClr val="5BD6D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7" y="2552700"/>
            <a:ext cx="51206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10243E"/>
                </a:solidFill>
                <a:latin typeface="Aptos"/>
              </a:rPr>
              <a:t>31%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5148071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86B82"/>
                </a:solidFill>
                <a:latin typeface="Aptos"/>
              </a:rPr>
              <a:t>T2 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7031" y="1572768"/>
            <a:ext cx="3374136" cy="4462272"/>
          </a:xfrm>
          <a:prstGeom prst="roundRect">
            <a:avLst/>
          </a:prstGeom>
          <a:solidFill>
            <a:srgbClr val="10243E"/>
          </a:solidFill>
          <a:ln w="12700">
            <a:solidFill>
              <a:srgbClr val="10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7072" y="1975104"/>
            <a:ext cx="24688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5BD6D0"/>
                </a:solidFill>
                <a:latin typeface="Aptos"/>
              </a:rPr>
              <a:t>+3 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2633472"/>
            <a:ext cx="24688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de marge
vs T1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3767328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D6D0"/>
                </a:solidFill>
                <a:latin typeface="Aptos"/>
              </a:rPr>
              <a:t>Hypothèse explicative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4160520"/>
            <a:ext cx="251460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D7E5F4"/>
                </a:solidFill>
                <a:latin typeface="Aptos"/>
              </a:rPr>
              <a:t>Mix clients plus favorable et baisse des remises non standard.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86B82"/>
                </a:solidFill>
                <a:latin typeface="Aptos"/>
              </a:rPr>
              <a:t>EXEMPLE FICTIF · DONNÉES SYNTHÉTIQUES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86B82"/>
                </a:solidFill>
                <a:latin typeface="Aptos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035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D7FF9"/>
                </a:solidFill>
                <a:latin typeface="Aptos"/>
              </a:rPr>
              <a:t>05 · FAIT MARQUANT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43E"/>
                </a:solidFill>
                <a:latin typeface="Aptos"/>
              </a:rPr>
              <a:t>Le segment PME devient le premier moteur.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3703320" cy="4498848"/>
          </a:xfrm>
          <a:prstGeom prst="roundRect">
            <a:avLst/>
          </a:prstGeom>
          <a:solidFill>
            <a:srgbClr val="10243E"/>
          </a:solidFill>
          <a:ln w="12700">
            <a:solidFill>
              <a:srgbClr val="10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2024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5BD6D0"/>
                </a:solidFill>
                <a:latin typeface="Aptos"/>
              </a:rPr>
              <a:t>PME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95728"/>
            <a:ext cx="25603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48 %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90672"/>
            <a:ext cx="2560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D7E5F4"/>
                </a:solidFill>
                <a:latin typeface="Aptos"/>
              </a:rPr>
              <a:t>des nouveaux revenus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977639"/>
            <a:ext cx="2011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5BD6D0"/>
                </a:solidFill>
                <a:latin typeface="Aptos"/>
              </a:rPr>
              <a:t>+22 %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489704"/>
            <a:ext cx="2560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D7E5F4"/>
                </a:solidFill>
                <a:latin typeface="Aptos"/>
              </a:rPr>
              <a:t>croissance séquentielle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1572768"/>
            <a:ext cx="7077456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8" y="1901952"/>
            <a:ext cx="2377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Aptos"/>
              </a:rPr>
              <a:t>Ce qui a changé</a:t>
            </a:r>
          </a:p>
        </p:txBody>
      </p:sp>
      <p:sp>
        <p:nvSpPr>
          <p:cNvPr id="12" name="Oval 11"/>
          <p:cNvSpPr/>
          <p:nvPr/>
        </p:nvSpPr>
        <p:spPr>
          <a:xfrm>
            <a:off x="4864608" y="2551176"/>
            <a:ext cx="100584" cy="100584"/>
          </a:xfrm>
          <a:prstGeom prst="ellipse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65776" y="2468880"/>
            <a:ext cx="58795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0243E"/>
                </a:solidFill>
                <a:latin typeface="Aptos"/>
              </a:rPr>
              <a:t>Cycle de vente raccourci de 9 jours.</a:t>
            </a:r>
          </a:p>
        </p:txBody>
      </p:sp>
      <p:sp>
        <p:nvSpPr>
          <p:cNvPr id="14" name="Oval 13"/>
          <p:cNvSpPr/>
          <p:nvPr/>
        </p:nvSpPr>
        <p:spPr>
          <a:xfrm>
            <a:off x="4864608" y="3218688"/>
            <a:ext cx="100584" cy="100584"/>
          </a:xfrm>
          <a:prstGeom prst="ellipse">
            <a:avLst/>
          </a:prstGeom>
          <a:solidFill>
            <a:srgbClr val="159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3136392"/>
            <a:ext cx="58795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0243E"/>
                </a:solidFill>
                <a:latin typeface="Aptos"/>
              </a:rPr>
              <a:t>Offre standardisée mieux comprise.</a:t>
            </a:r>
          </a:p>
        </p:txBody>
      </p:sp>
      <p:sp>
        <p:nvSpPr>
          <p:cNvPr id="16" name="Oval 15"/>
          <p:cNvSpPr/>
          <p:nvPr/>
        </p:nvSpPr>
        <p:spPr>
          <a:xfrm>
            <a:off x="4864608" y="3886200"/>
            <a:ext cx="100584" cy="100584"/>
          </a:xfrm>
          <a:prstGeom prst="ellipse">
            <a:avLst/>
          </a:prstGeom>
          <a:solidFill>
            <a:srgbClr val="5B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776" y="3803904"/>
            <a:ext cx="58795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10243E"/>
                </a:solidFill>
                <a:latin typeface="Aptos"/>
              </a:rPr>
              <a:t>Taux d’activation supérieur après onboarding guidé.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64608" y="4681728"/>
            <a:ext cx="6291072" cy="786384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4901184"/>
            <a:ext cx="5852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0243E"/>
                </a:solidFill>
                <a:latin typeface="Aptos"/>
              </a:rPr>
              <a:t>Décision : préserver la simplicité de l’offre avant d’ajouter des options.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86B82"/>
                </a:solidFill>
                <a:latin typeface="Aptos"/>
              </a:rPr>
              <a:t>EXEMPLE FICTIF · DONNÉES SYNTHÉTIQUES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86B82"/>
                </a:solidFill>
                <a:latin typeface="Aptos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035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D7FF9"/>
                </a:solidFill>
                <a:latin typeface="Aptos"/>
              </a:rPr>
              <a:t>06 · POINT DE VIGILANCE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43E"/>
                </a:solidFill>
                <a:latin typeface="Aptos"/>
              </a:rPr>
              <a:t>Le support approche de son seuil de capacité.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11064240" cy="1225296"/>
          </a:xfrm>
          <a:prstGeom prst="roundRect">
            <a:avLst/>
          </a:prstGeom>
          <a:solidFill>
            <a:srgbClr val="FFF4F0"/>
          </a:solidFill>
          <a:ln w="12700">
            <a:solidFill>
              <a:srgbClr val="F1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731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E46D5A"/>
                </a:solidFill>
                <a:latin typeface="Aptos"/>
              </a:rPr>
              <a:t>RISQUE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755648"/>
            <a:ext cx="90982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0243E"/>
                </a:solidFill>
                <a:latin typeface="Aptos"/>
              </a:rPr>
              <a:t>Le délai médian de première réponse est passé de 3 h 10 à 5 h 25.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27248"/>
            <a:ext cx="349300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401568"/>
            <a:ext cx="13258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E46D5A"/>
                </a:solidFill>
                <a:latin typeface="Aptos"/>
              </a:rPr>
              <a:t>84 %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3456432"/>
            <a:ext cx="1783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86B82"/>
                </a:solidFill>
                <a:latin typeface="Aptos"/>
              </a:rPr>
              <a:t>capacité actuelle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3127248"/>
            <a:ext cx="349300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3401568"/>
            <a:ext cx="13258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D9A441"/>
                </a:solidFill>
                <a:latin typeface="Aptos"/>
              </a:rPr>
              <a:t>92 %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9008" y="3456432"/>
            <a:ext cx="1783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86B82"/>
                </a:solidFill>
                <a:latin typeface="Aptos"/>
              </a:rPr>
              <a:t>projection septembre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3127248"/>
            <a:ext cx="349300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3401568"/>
            <a:ext cx="13258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59A7D"/>
                </a:solidFill>
                <a:latin typeface="Aptos"/>
              </a:rPr>
              <a:t>80 %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64624" y="3456432"/>
            <a:ext cx="1783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86B82"/>
                </a:solidFill>
                <a:latin typeface="Aptos"/>
              </a:rPr>
              <a:t>seuil cible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91456"/>
            <a:ext cx="11064240" cy="1115568"/>
          </a:xfrm>
          <a:prstGeom prst="roundRect">
            <a:avLst/>
          </a:prstGeom>
          <a:solidFill>
            <a:srgbClr val="10243E"/>
          </a:solidFill>
          <a:ln w="12700">
            <a:solidFill>
              <a:srgbClr val="10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047488"/>
            <a:ext cx="1920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D6D0"/>
                </a:solidFill>
                <a:latin typeface="Aptos"/>
              </a:rPr>
              <a:t>Décision proposée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965192"/>
            <a:ext cx="81381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Sécuriser une capacité supplémentaire avant le lancement ; suivre le délai chaque semaine.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86B82"/>
                </a:solidFill>
                <a:latin typeface="Aptos"/>
              </a:rPr>
              <a:t>EXEMPLE FICTIF · DONNÉES SYNTHÉTIQUES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86B82"/>
                </a:solidFill>
                <a:latin typeface="Aptos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6035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D6D0"/>
                </a:solidFill>
                <a:latin typeface="Aptos"/>
              </a:rPr>
              <a:t>07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Trois priorités pour le T3.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06070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D7E5F4"/>
                </a:solidFill>
                <a:latin typeface="Aptos"/>
              </a:rPr>
              <a:t>Des décisions simples, chacune liée à un indicateur de contrôle.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67712"/>
            <a:ext cx="3401568" cy="2377440"/>
          </a:xfrm>
          <a:prstGeom prst="roundRect">
            <a:avLst/>
          </a:prstGeom>
          <a:solidFill>
            <a:srgbClr val="173B62"/>
          </a:solidFill>
          <a:ln w="12700">
            <a:solidFill>
              <a:srgbClr val="28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54203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BD6D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71800"/>
            <a:ext cx="2788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Accélérer PME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822191"/>
            <a:ext cx="2743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D7E5F4"/>
                </a:solidFill>
                <a:latin typeface="Aptos"/>
              </a:rPr>
              <a:t>Pipeline qualifié
+20 %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2267712"/>
            <a:ext cx="3401568" cy="2377440"/>
          </a:xfrm>
          <a:prstGeom prst="roundRect">
            <a:avLst/>
          </a:prstGeom>
          <a:solidFill>
            <a:srgbClr val="173B62"/>
          </a:solidFill>
          <a:ln w="12700">
            <a:solidFill>
              <a:srgbClr val="28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54203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BD6D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71800"/>
            <a:ext cx="2788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Réallouer le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822191"/>
            <a:ext cx="2743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D7E5F4"/>
                </a:solidFill>
                <a:latin typeface="Aptos"/>
              </a:rPr>
              <a:t>CAC ≤ 1 100 €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2267712"/>
            <a:ext cx="3401568" cy="2377440"/>
          </a:xfrm>
          <a:prstGeom prst="roundRect">
            <a:avLst/>
          </a:prstGeom>
          <a:solidFill>
            <a:srgbClr val="173B62"/>
          </a:solidFill>
          <a:ln w="12700">
            <a:solidFill>
              <a:srgbClr val="28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7" y="254203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BD6D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7" y="2971800"/>
            <a:ext cx="2788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Sécuriser le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3822191"/>
            <a:ext cx="2743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D7E5F4"/>
                </a:solidFill>
                <a:latin typeface="Aptos"/>
              </a:rPr>
              <a:t>Réponse &lt; 4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257800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5BD6D0"/>
                </a:solidFill>
                <a:latin typeface="Aptos"/>
              </a:rPr>
              <a:t>Prochaine revue · 15 octobre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705856"/>
            <a:ext cx="7680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D7E5F4"/>
                </a:solidFill>
                <a:latin typeface="Aptos"/>
              </a:rPr>
              <a:t>Chaque décision reste à confirmer avec les données sources réelles.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9C8DA"/>
                </a:solidFill>
                <a:latin typeface="Aptos"/>
              </a:rPr>
              <a:t>EXEMPLE FICTIF · DONNÉES SYNTHÉTIQUES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B9C8DA"/>
                </a:solidFill>
                <a:latin typeface="Aptos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